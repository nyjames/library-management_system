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Inter Bold" panose="020B0604020202020204" charset="0"/>
      <p:regular r:id="rId24"/>
    </p:embeddedFont>
    <p:embeddedFont>
      <p:font typeface="Inter Semi-Bold" panose="020B0604020202020204" charset="0"/>
      <p:regular r:id="rId25"/>
    </p:embeddedFont>
    <p:embeddedFont>
      <p:font typeface="Inter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99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5595" y="2453349"/>
            <a:ext cx="10222112" cy="559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99"/>
              </a:lnSpc>
            </a:pPr>
            <a:r>
              <a:rPr lang="en-US" sz="9999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LIBRARY MANAGEMENT SYSTEM</a:t>
            </a:r>
          </a:p>
        </p:txBody>
      </p:sp>
      <p:sp>
        <p:nvSpPr>
          <p:cNvPr id="3" name="Freeform 3"/>
          <p:cNvSpPr/>
          <p:nvPr/>
        </p:nvSpPr>
        <p:spPr>
          <a:xfrm>
            <a:off x="410892" y="2560320"/>
            <a:ext cx="5331805" cy="5331805"/>
          </a:xfrm>
          <a:custGeom>
            <a:avLst/>
            <a:gdLst/>
            <a:ahLst/>
            <a:cxnLst/>
            <a:rect l="l" t="t" r="r" b="b"/>
            <a:pathLst>
              <a:path w="5331805" h="5331805">
                <a:moveTo>
                  <a:pt x="0" y="0"/>
                </a:moveTo>
                <a:lnTo>
                  <a:pt x="5331805" y="0"/>
                </a:lnTo>
                <a:lnTo>
                  <a:pt x="5331805" y="5331805"/>
                </a:lnTo>
                <a:lnTo>
                  <a:pt x="0" y="5331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11026" y="3586692"/>
            <a:ext cx="4130153" cy="3444620"/>
          </a:xfrm>
          <a:custGeom>
            <a:avLst/>
            <a:gdLst/>
            <a:ahLst/>
            <a:cxnLst/>
            <a:rect l="l" t="t" r="r" b="b"/>
            <a:pathLst>
              <a:path w="4130153" h="3444620">
                <a:moveTo>
                  <a:pt x="0" y="0"/>
                </a:moveTo>
                <a:lnTo>
                  <a:pt x="4130153" y="0"/>
                </a:lnTo>
                <a:lnTo>
                  <a:pt x="4130153" y="3444620"/>
                </a:lnTo>
                <a:lnTo>
                  <a:pt x="0" y="344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132727" y="1553752"/>
            <a:ext cx="188675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Connor Mayer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96469" y="279188"/>
            <a:ext cx="26356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December 11th 2024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009" y="279188"/>
            <a:ext cx="313622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 CSC-256 Group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2589" y="1553752"/>
            <a:ext cx="168282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Nya James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55058" y="1553752"/>
            <a:ext cx="168282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Carlos Rivas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20171" y="8740401"/>
            <a:ext cx="279483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Aaron Thomas Jones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68306" y="8588001"/>
            <a:ext cx="188675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John Huestis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5881" y="4312920"/>
            <a:ext cx="14616239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INTRODUCTION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13" b="-54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393654" y="2637384"/>
            <a:ext cx="8701568" cy="706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This system was developed by a Agile dedicated team to make library management seamless and efficient. We were able to break our responsibilities into week-long sprints.</a:t>
            </a:r>
          </a:p>
          <a:p>
            <a:pPr algn="just">
              <a:lnSpc>
                <a:spcPts val="4273"/>
              </a:lnSpc>
            </a:pPr>
            <a:endParaRPr lang="en-US" sz="3000" b="1">
              <a:solidFill>
                <a:srgbClr val="253278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4273"/>
              </a:lnSpc>
            </a:pPr>
            <a:r>
              <a:rPr lang="en-US" sz="2848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It supports book cataloging, user account management, and a straightforward borrowing system.</a:t>
            </a:r>
          </a:p>
          <a:p>
            <a:pPr algn="just">
              <a:lnSpc>
                <a:spcPts val="4273"/>
              </a:lnSpc>
            </a:pPr>
            <a:endParaRPr lang="en-US" sz="2848" b="1">
              <a:solidFill>
                <a:srgbClr val="253278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4273"/>
              </a:lnSpc>
            </a:pPr>
            <a:r>
              <a:rPr lang="en-US" sz="2848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This application allows users the ability to explore a wide range of books, manage their library accounts, and borrow resources with ease.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32222" y="998355"/>
            <a:ext cx="5624432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PURPOSE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02" b="-421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2277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13" b="-54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88528" y="3771900"/>
            <a:ext cx="8222544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1. Browse the catalog to discover available books.</a:t>
            </a:r>
          </a:p>
          <a:p>
            <a:pPr algn="just">
              <a:lnSpc>
                <a:spcPts val="3600"/>
              </a:lnSpc>
            </a:pPr>
            <a:endParaRPr lang="en-US" sz="3000" b="1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2. Sign up for an account to start borrowing books.</a:t>
            </a:r>
          </a:p>
          <a:p>
            <a:pPr algn="just">
              <a:lnSpc>
                <a:spcPts val="3600"/>
              </a:lnSpc>
            </a:pPr>
            <a:endParaRPr lang="en-US" sz="3000" b="1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3. Log in to view or manage your checked-out books.</a:t>
            </a:r>
          </a:p>
          <a:p>
            <a:pPr algn="just">
              <a:lnSpc>
                <a:spcPts val="3600"/>
              </a:lnSpc>
            </a:pPr>
            <a:endParaRPr lang="en-US" sz="3000" b="1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4. Use our search functionality to find your preferred book.</a:t>
            </a:r>
          </a:p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endParaRPr lang="en-US" sz="3000" b="1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8528" y="1247775"/>
            <a:ext cx="9029725" cy="161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000"/>
              </a:lnSpc>
              <a:spcBef>
                <a:spcPct val="0"/>
              </a:spcBef>
            </a:pPr>
            <a:r>
              <a:rPr lang="en-US" sz="120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KEY FEATS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82530" y="403013"/>
            <a:ext cx="753726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  <a:spcBef>
                <a:spcPct val="0"/>
              </a:spcBef>
            </a:pPr>
            <a:r>
              <a:rPr lang="en-US" sz="12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2024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46503" y="3086100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90396" y="7953375"/>
            <a:ext cx="14492134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our database schema contains tables primarily structured around DJANGO’s default authenication and session management, along with a custom user model and a catalog for books.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03390" y="631613"/>
            <a:ext cx="9029725" cy="161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000"/>
              </a:lnSpc>
              <a:spcBef>
                <a:spcPct val="0"/>
              </a:spcBef>
            </a:pPr>
            <a:r>
              <a:rPr lang="en-US" sz="120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DATABASE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82530" y="403013"/>
            <a:ext cx="753726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  <a:spcBef>
                <a:spcPct val="0"/>
              </a:spcBef>
            </a:pPr>
            <a:r>
              <a:rPr lang="en-US" sz="12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2024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47512" y="631613"/>
            <a:ext cx="9029725" cy="161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000"/>
              </a:lnSpc>
              <a:spcBef>
                <a:spcPct val="0"/>
              </a:spcBef>
            </a:pPr>
            <a:r>
              <a:rPr lang="en-US" sz="120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DATABASE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82530" y="403013"/>
            <a:ext cx="753726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  <a:spcBef>
                <a:spcPct val="0"/>
              </a:spcBef>
            </a:pPr>
            <a:r>
              <a:rPr lang="en-US" sz="12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2024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47512" y="3314700"/>
            <a:ext cx="9288743" cy="594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dirty="0" err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accounts_customuser</a:t>
            </a:r>
            <a:r>
              <a:rPr lang="en-US" sz="3000" b="1" dirty="0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00" b="1" dirty="0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stores user data, including personal details.</a:t>
            </a:r>
          </a:p>
          <a:p>
            <a:pPr algn="just">
              <a:lnSpc>
                <a:spcPts val="3600"/>
              </a:lnSpc>
            </a:pPr>
            <a:endParaRPr lang="en-US" sz="3000" b="1" dirty="0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 dirty="0" err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catalog_book</a:t>
            </a:r>
            <a:r>
              <a:rPr lang="en-US" sz="3000" b="1" dirty="0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00" b="1" dirty="0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represents books in the catalog.</a:t>
            </a:r>
          </a:p>
          <a:p>
            <a:pPr algn="just">
              <a:lnSpc>
                <a:spcPts val="3600"/>
              </a:lnSpc>
            </a:pPr>
            <a:endParaRPr lang="en-US" sz="3000" b="1" dirty="0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 dirty="0" err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accounts_customeruser_groups</a:t>
            </a:r>
            <a:r>
              <a:rPr lang="en-US" sz="3000" b="1" dirty="0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00" b="1" dirty="0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Links users to groups.</a:t>
            </a:r>
          </a:p>
          <a:p>
            <a:pPr algn="just">
              <a:lnSpc>
                <a:spcPts val="3600"/>
              </a:lnSpc>
            </a:pPr>
            <a:endParaRPr lang="en-US" sz="3000" b="1" dirty="0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</a:pPr>
            <a:r>
              <a:rPr lang="en-US" sz="3000" b="1" dirty="0" err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accounts_customeruser_user_permissions</a:t>
            </a:r>
            <a:r>
              <a:rPr lang="en-US" sz="3000" b="1" dirty="0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00" b="1" dirty="0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Links users to permissions.</a:t>
            </a:r>
          </a:p>
          <a:p>
            <a:pPr algn="just">
              <a:lnSpc>
                <a:spcPts val="3600"/>
              </a:lnSpc>
            </a:pPr>
            <a:endParaRPr lang="en-US" sz="3000" b="1" dirty="0">
              <a:solidFill>
                <a:srgbClr val="FFD86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auth_group_permissions</a:t>
            </a:r>
            <a:r>
              <a:rPr lang="en-US" sz="3000" b="1" dirty="0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  <a:r>
              <a:rPr lang="en-US" sz="3000" b="1" dirty="0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Maps groups to permissions.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67" b="-215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5859" y="3141935"/>
            <a:ext cx="6458228" cy="6458228"/>
          </a:xfrm>
          <a:custGeom>
            <a:avLst/>
            <a:gdLst/>
            <a:ahLst/>
            <a:cxnLst/>
            <a:rect l="l" t="t" r="r" b="b"/>
            <a:pathLst>
              <a:path w="6458228" h="6458228">
                <a:moveTo>
                  <a:pt x="0" y="0"/>
                </a:moveTo>
                <a:lnTo>
                  <a:pt x="6458228" y="0"/>
                </a:lnTo>
                <a:lnTo>
                  <a:pt x="6458228" y="6458228"/>
                </a:lnTo>
                <a:lnTo>
                  <a:pt x="0" y="645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629333" y="3141935"/>
            <a:ext cx="6458228" cy="6458228"/>
          </a:xfrm>
          <a:custGeom>
            <a:avLst/>
            <a:gdLst/>
            <a:ahLst/>
            <a:cxnLst/>
            <a:rect l="l" t="t" r="r" b="b"/>
            <a:pathLst>
              <a:path w="6458228" h="6458228">
                <a:moveTo>
                  <a:pt x="0" y="0"/>
                </a:moveTo>
                <a:lnTo>
                  <a:pt x="6458228" y="0"/>
                </a:lnTo>
                <a:lnTo>
                  <a:pt x="6458228" y="6458228"/>
                </a:lnTo>
                <a:lnTo>
                  <a:pt x="0" y="645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502512" y="3356715"/>
            <a:ext cx="11282976" cy="6028668"/>
          </a:xfrm>
          <a:custGeom>
            <a:avLst/>
            <a:gdLst/>
            <a:ahLst/>
            <a:cxnLst/>
            <a:rect l="l" t="t" r="r" b="b"/>
            <a:pathLst>
              <a:path w="11282976" h="6028668">
                <a:moveTo>
                  <a:pt x="0" y="0"/>
                </a:moveTo>
                <a:lnTo>
                  <a:pt x="11282976" y="0"/>
                </a:lnTo>
                <a:lnTo>
                  <a:pt x="11282976" y="6028668"/>
                </a:lnTo>
                <a:lnTo>
                  <a:pt x="0" y="602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8" r="-1294" b="-1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514350"/>
            <a:ext cx="1623060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DATABASE SCHEMA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69705" y="1874625"/>
            <a:ext cx="13537690" cy="1320165"/>
            <a:chOff x="0" y="0"/>
            <a:chExt cx="18050253" cy="1760220"/>
          </a:xfrm>
        </p:grpSpPr>
        <p:sp>
          <p:nvSpPr>
            <p:cNvPr id="7" name="TextBox 7"/>
            <p:cNvSpPr txBox="1"/>
            <p:nvPr/>
          </p:nvSpPr>
          <p:spPr>
            <a:xfrm>
              <a:off x="0" y="57150"/>
              <a:ext cx="18050253" cy="1283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DATABASE SCHEMA INCLUDING TABLES AND RELATIONSHIPS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41120"/>
              <a:ext cx="18050253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062" y="4342339"/>
            <a:ext cx="5078924" cy="5078924"/>
          </a:xfrm>
          <a:custGeom>
            <a:avLst/>
            <a:gdLst/>
            <a:ahLst/>
            <a:cxnLst/>
            <a:rect l="l" t="t" r="r" b="b"/>
            <a:pathLst>
              <a:path w="5078924" h="5078924">
                <a:moveTo>
                  <a:pt x="0" y="0"/>
                </a:moveTo>
                <a:lnTo>
                  <a:pt x="5078924" y="0"/>
                </a:lnTo>
                <a:lnTo>
                  <a:pt x="5078924" y="5078923"/>
                </a:lnTo>
                <a:lnTo>
                  <a:pt x="0" y="507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657090" y="4342339"/>
            <a:ext cx="5078924" cy="5078924"/>
          </a:xfrm>
          <a:custGeom>
            <a:avLst/>
            <a:gdLst/>
            <a:ahLst/>
            <a:cxnLst/>
            <a:rect l="l" t="t" r="r" b="b"/>
            <a:pathLst>
              <a:path w="5078924" h="5078924">
                <a:moveTo>
                  <a:pt x="0" y="0"/>
                </a:moveTo>
                <a:lnTo>
                  <a:pt x="5078924" y="0"/>
                </a:lnTo>
                <a:lnTo>
                  <a:pt x="5078924" y="5078923"/>
                </a:lnTo>
                <a:lnTo>
                  <a:pt x="0" y="507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929835" y="728943"/>
            <a:ext cx="2329465" cy="2329465"/>
          </a:xfrm>
          <a:custGeom>
            <a:avLst/>
            <a:gdLst/>
            <a:ahLst/>
            <a:cxnLst/>
            <a:rect l="l" t="t" r="r" b="b"/>
            <a:pathLst>
              <a:path w="2329465" h="2329465">
                <a:moveTo>
                  <a:pt x="0" y="0"/>
                </a:moveTo>
                <a:lnTo>
                  <a:pt x="2329465" y="0"/>
                </a:lnTo>
                <a:lnTo>
                  <a:pt x="2329465" y="2329465"/>
                </a:lnTo>
                <a:lnTo>
                  <a:pt x="0" y="2329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827461" y="4342339"/>
            <a:ext cx="5078924" cy="5078924"/>
          </a:xfrm>
          <a:custGeom>
            <a:avLst/>
            <a:gdLst/>
            <a:ahLst/>
            <a:cxnLst/>
            <a:rect l="l" t="t" r="r" b="b"/>
            <a:pathLst>
              <a:path w="5078924" h="5078924">
                <a:moveTo>
                  <a:pt x="0" y="0"/>
                </a:moveTo>
                <a:lnTo>
                  <a:pt x="5078923" y="0"/>
                </a:lnTo>
                <a:lnTo>
                  <a:pt x="5078923" y="5078923"/>
                </a:lnTo>
                <a:lnTo>
                  <a:pt x="0" y="507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224231" y="1265450"/>
            <a:ext cx="1740673" cy="1256449"/>
          </a:xfrm>
          <a:custGeom>
            <a:avLst/>
            <a:gdLst/>
            <a:ahLst/>
            <a:cxnLst/>
            <a:rect l="l" t="t" r="r" b="b"/>
            <a:pathLst>
              <a:path w="1740673" h="1256449">
                <a:moveTo>
                  <a:pt x="0" y="0"/>
                </a:moveTo>
                <a:lnTo>
                  <a:pt x="1740673" y="0"/>
                </a:lnTo>
                <a:lnTo>
                  <a:pt x="1740673" y="1256450"/>
                </a:lnTo>
                <a:lnTo>
                  <a:pt x="0" y="125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88528" y="807825"/>
            <a:ext cx="9384856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TECHNOLOGIES USED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51259" y="4798482"/>
            <a:ext cx="4168529" cy="4181499"/>
            <a:chOff x="0" y="0"/>
            <a:chExt cx="5558039" cy="5575332"/>
          </a:xfrm>
        </p:grpSpPr>
        <p:sp>
          <p:nvSpPr>
            <p:cNvPr id="9" name="TextBox 9"/>
            <p:cNvSpPr txBox="1"/>
            <p:nvPr/>
          </p:nvSpPr>
          <p:spPr>
            <a:xfrm>
              <a:off x="0" y="57150"/>
              <a:ext cx="5558039" cy="674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HTML / CSS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70007"/>
              <a:ext cx="5558039" cy="450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30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Our Front-end is made-up using HTML and CSS. Using templates; we were able to bring our application to life.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49599" y="5076801"/>
            <a:ext cx="4232878" cy="3595956"/>
            <a:chOff x="0" y="0"/>
            <a:chExt cx="5643837" cy="479460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6675"/>
              <a:ext cx="5643837" cy="651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3594" b="1">
                  <a:solidFill>
                    <a:srgbClr val="253278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DJANGO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66049"/>
              <a:ext cx="5643837" cy="3728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93"/>
                </a:lnSpc>
              </a:pPr>
              <a:r>
                <a:rPr lang="en-US" sz="2995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 its built-in resources that best suited the development of our application.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96984" y="5076801"/>
            <a:ext cx="4482263" cy="3609999"/>
            <a:chOff x="0" y="0"/>
            <a:chExt cx="5976351" cy="481333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57150"/>
              <a:ext cx="5976351" cy="674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253278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PYTHON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70007"/>
              <a:ext cx="5976351" cy="374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30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 it’s built-in libraries that assisted in our testing process, and it’s ability to program using DJANGO.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16679" y="4367563"/>
            <a:ext cx="5078924" cy="5078924"/>
          </a:xfrm>
          <a:custGeom>
            <a:avLst/>
            <a:gdLst/>
            <a:ahLst/>
            <a:cxnLst/>
            <a:rect l="l" t="t" r="r" b="b"/>
            <a:pathLst>
              <a:path w="5078924" h="5078924">
                <a:moveTo>
                  <a:pt x="0" y="0"/>
                </a:moveTo>
                <a:lnTo>
                  <a:pt x="5078924" y="0"/>
                </a:lnTo>
                <a:lnTo>
                  <a:pt x="5078924" y="5078924"/>
                </a:lnTo>
                <a:lnTo>
                  <a:pt x="0" y="507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929835" y="728943"/>
            <a:ext cx="2329465" cy="2329465"/>
          </a:xfrm>
          <a:custGeom>
            <a:avLst/>
            <a:gdLst/>
            <a:ahLst/>
            <a:cxnLst/>
            <a:rect l="l" t="t" r="r" b="b"/>
            <a:pathLst>
              <a:path w="2329465" h="2329465">
                <a:moveTo>
                  <a:pt x="0" y="0"/>
                </a:moveTo>
                <a:lnTo>
                  <a:pt x="2329465" y="0"/>
                </a:lnTo>
                <a:lnTo>
                  <a:pt x="2329465" y="2329465"/>
                </a:lnTo>
                <a:lnTo>
                  <a:pt x="0" y="2329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748078" y="4367563"/>
            <a:ext cx="5078924" cy="5078924"/>
          </a:xfrm>
          <a:custGeom>
            <a:avLst/>
            <a:gdLst/>
            <a:ahLst/>
            <a:cxnLst/>
            <a:rect l="l" t="t" r="r" b="b"/>
            <a:pathLst>
              <a:path w="5078924" h="5078924">
                <a:moveTo>
                  <a:pt x="0" y="0"/>
                </a:moveTo>
                <a:lnTo>
                  <a:pt x="5078924" y="0"/>
                </a:lnTo>
                <a:lnTo>
                  <a:pt x="5078924" y="5078924"/>
                </a:lnTo>
                <a:lnTo>
                  <a:pt x="0" y="507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8528" y="807825"/>
            <a:ext cx="9384856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TECHNOLOGIES USED PT. 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71877" y="5966706"/>
            <a:ext cx="4168529" cy="1895499"/>
            <a:chOff x="0" y="0"/>
            <a:chExt cx="5558039" cy="2527332"/>
          </a:xfrm>
        </p:grpSpPr>
        <p:sp>
          <p:nvSpPr>
            <p:cNvPr id="7" name="TextBox 7"/>
            <p:cNvSpPr txBox="1"/>
            <p:nvPr/>
          </p:nvSpPr>
          <p:spPr>
            <a:xfrm>
              <a:off x="0" y="57150"/>
              <a:ext cx="5558039" cy="674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 / GITHUB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70007"/>
              <a:ext cx="5558039" cy="145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30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 it’s version control capabilities.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966706"/>
            <a:ext cx="4259094" cy="1760907"/>
            <a:chOff x="0" y="0"/>
            <a:chExt cx="5678793" cy="234787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6675"/>
              <a:ext cx="5678793" cy="1248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3594" b="1">
                  <a:solidFill>
                    <a:srgbClr val="253278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VISUAL STUDIO CODE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662949"/>
              <a:ext cx="5678793" cy="684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93"/>
                </a:lnSpc>
              </a:pPr>
              <a:r>
                <a:rPr lang="en-US" sz="2995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As our IDE of choice.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82530" y="369675"/>
            <a:ext cx="75372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59"/>
              </a:lnSpc>
              <a:spcBef>
                <a:spcPct val="0"/>
              </a:spcBef>
            </a:pPr>
            <a:r>
              <a:rPr lang="en-US" sz="1799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2024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528" y="369675"/>
            <a:ext cx="222815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cSC256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224231" y="1265450"/>
            <a:ext cx="1740673" cy="1256449"/>
          </a:xfrm>
          <a:custGeom>
            <a:avLst/>
            <a:gdLst/>
            <a:ahLst/>
            <a:cxnLst/>
            <a:rect l="l" t="t" r="r" b="b"/>
            <a:pathLst>
              <a:path w="1740673" h="1256449">
                <a:moveTo>
                  <a:pt x="0" y="0"/>
                </a:moveTo>
                <a:lnTo>
                  <a:pt x="1740673" y="0"/>
                </a:lnTo>
                <a:lnTo>
                  <a:pt x="1740673" y="1256450"/>
                </a:lnTo>
                <a:lnTo>
                  <a:pt x="0" y="125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3813" y="4312920"/>
            <a:ext cx="15600375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FEEE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PROJECT GOALS</a:t>
            </a:r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6881" y="3394326"/>
            <a:ext cx="2945983" cy="2945983"/>
          </a:xfrm>
          <a:custGeom>
            <a:avLst/>
            <a:gdLst/>
            <a:ahLst/>
            <a:cxnLst/>
            <a:rect l="l" t="t" r="r" b="b"/>
            <a:pathLst>
              <a:path w="2945983" h="2945983">
                <a:moveTo>
                  <a:pt x="0" y="0"/>
                </a:moveTo>
                <a:lnTo>
                  <a:pt x="2945983" y="0"/>
                </a:lnTo>
                <a:lnTo>
                  <a:pt x="2945983" y="2945983"/>
                </a:lnTo>
                <a:lnTo>
                  <a:pt x="0" y="2945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962461" y="3331356"/>
            <a:ext cx="2200614" cy="3071923"/>
          </a:xfrm>
          <a:custGeom>
            <a:avLst/>
            <a:gdLst/>
            <a:ahLst/>
            <a:cxnLst/>
            <a:rect l="l" t="t" r="r" b="b"/>
            <a:pathLst>
              <a:path w="2200614" h="3071923">
                <a:moveTo>
                  <a:pt x="0" y="0"/>
                </a:moveTo>
                <a:lnTo>
                  <a:pt x="2200614" y="0"/>
                </a:lnTo>
                <a:lnTo>
                  <a:pt x="2200614" y="3071923"/>
                </a:lnTo>
                <a:lnTo>
                  <a:pt x="0" y="3071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92673" y="3331356"/>
            <a:ext cx="2910478" cy="3008953"/>
          </a:xfrm>
          <a:custGeom>
            <a:avLst/>
            <a:gdLst/>
            <a:ahLst/>
            <a:cxnLst/>
            <a:rect l="l" t="t" r="r" b="b"/>
            <a:pathLst>
              <a:path w="2910478" h="3008953">
                <a:moveTo>
                  <a:pt x="0" y="0"/>
                </a:moveTo>
                <a:lnTo>
                  <a:pt x="2910478" y="0"/>
                </a:lnTo>
                <a:lnTo>
                  <a:pt x="2910478" y="3008953"/>
                </a:lnTo>
                <a:lnTo>
                  <a:pt x="0" y="3008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232005" y="1200150"/>
            <a:ext cx="9823989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PROJECT GOALS</a:t>
            </a:r>
          </a:p>
        </p:txBody>
      </p:sp>
      <p:sp>
        <p:nvSpPr>
          <p:cNvPr id="6" name="Freeform 6"/>
          <p:cNvSpPr/>
          <p:nvPr/>
        </p:nvSpPr>
        <p:spPr>
          <a:xfrm>
            <a:off x="13932614" y="3355890"/>
            <a:ext cx="2918431" cy="3022857"/>
          </a:xfrm>
          <a:custGeom>
            <a:avLst/>
            <a:gdLst/>
            <a:ahLst/>
            <a:cxnLst/>
            <a:rect l="l" t="t" r="r" b="b"/>
            <a:pathLst>
              <a:path w="2918431" h="3022857">
                <a:moveTo>
                  <a:pt x="0" y="0"/>
                </a:moveTo>
                <a:lnTo>
                  <a:pt x="2918431" y="0"/>
                </a:lnTo>
                <a:lnTo>
                  <a:pt x="2918431" y="3022856"/>
                </a:lnTo>
                <a:lnTo>
                  <a:pt x="0" y="3022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7075333"/>
            <a:ext cx="4062345" cy="106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5"/>
              </a:lnSpc>
              <a:spcBef>
                <a:spcPct val="0"/>
              </a:spcBef>
            </a:pPr>
            <a:r>
              <a:rPr lang="en-US" sz="2745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COLLABORATIVE DEVELOPMENT USING AGILE PRINCIPLES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25713" y="7249658"/>
            <a:ext cx="3300619" cy="71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5"/>
              </a:lnSpc>
              <a:spcBef>
                <a:spcPct val="0"/>
              </a:spcBef>
            </a:pPr>
            <a:r>
              <a:rPr lang="en-US" sz="2745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 AUTOMATED TESTING TOOLS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1566" y="7249658"/>
            <a:ext cx="4062345" cy="71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5"/>
              </a:lnSpc>
              <a:spcBef>
                <a:spcPct val="0"/>
              </a:spcBef>
            </a:pPr>
            <a:r>
              <a:rPr lang="en-US" sz="2745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USER-FRIENDLY AND EDUCATIONAL LABS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73911" y="7249658"/>
            <a:ext cx="4062345" cy="71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5"/>
              </a:lnSpc>
              <a:spcBef>
                <a:spcPct val="0"/>
              </a:spcBef>
            </a:pPr>
            <a:r>
              <a:rPr lang="en-US" sz="2745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70-80% TEST COVERAGE</a:t>
            </a:r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48928" y="3879755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9" y="0"/>
                </a:lnTo>
                <a:lnTo>
                  <a:pt x="2394229" y="2394229"/>
                </a:lnTo>
                <a:lnTo>
                  <a:pt x="0" y="239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90948" y="3878138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9" y="0"/>
                </a:lnTo>
                <a:lnTo>
                  <a:pt x="2394229" y="2394228"/>
                </a:lnTo>
                <a:lnTo>
                  <a:pt x="0" y="239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651865" y="3878138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9" y="0"/>
                </a:lnTo>
                <a:lnTo>
                  <a:pt x="2394229" y="2394228"/>
                </a:lnTo>
                <a:lnTo>
                  <a:pt x="0" y="239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775071" y="3879755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8" y="0"/>
                </a:lnTo>
                <a:lnTo>
                  <a:pt x="2394228" y="2394229"/>
                </a:lnTo>
                <a:lnTo>
                  <a:pt x="0" y="239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46094" y="6674323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8" y="0"/>
                </a:lnTo>
                <a:lnTo>
                  <a:pt x="2394228" y="2394228"/>
                </a:lnTo>
                <a:lnTo>
                  <a:pt x="0" y="239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243208" y="6674323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8" y="0"/>
                </a:lnTo>
                <a:lnTo>
                  <a:pt x="2394228" y="2394228"/>
                </a:lnTo>
                <a:lnTo>
                  <a:pt x="0" y="239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259427" y="6674323"/>
            <a:ext cx="2394228" cy="2394228"/>
          </a:xfrm>
          <a:custGeom>
            <a:avLst/>
            <a:gdLst/>
            <a:ahLst/>
            <a:cxnLst/>
            <a:rect l="l" t="t" r="r" b="b"/>
            <a:pathLst>
              <a:path w="2394228" h="2394228">
                <a:moveTo>
                  <a:pt x="0" y="0"/>
                </a:moveTo>
                <a:lnTo>
                  <a:pt x="2394229" y="0"/>
                </a:lnTo>
                <a:lnTo>
                  <a:pt x="2394229" y="2394228"/>
                </a:lnTo>
                <a:lnTo>
                  <a:pt x="0" y="239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674475"/>
            <a:ext cx="1623060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TESTING STRATEGY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69705" y="1874625"/>
            <a:ext cx="13537690" cy="1320165"/>
            <a:chOff x="0" y="0"/>
            <a:chExt cx="18050253" cy="176022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7150"/>
              <a:ext cx="18050253" cy="1283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AUTOMATED TOOLS WE USED FOR QUALITY ASSURANCE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341120"/>
              <a:ext cx="18050253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66337" y="4836283"/>
            <a:ext cx="3867200" cy="751757"/>
            <a:chOff x="0" y="0"/>
            <a:chExt cx="5156267" cy="1002342"/>
          </a:xfrm>
        </p:grpSpPr>
        <p:sp>
          <p:nvSpPr>
            <p:cNvPr id="14" name="TextBox 14"/>
            <p:cNvSpPr txBox="1"/>
            <p:nvPr/>
          </p:nvSpPr>
          <p:spPr>
            <a:xfrm>
              <a:off x="0" y="57150"/>
              <a:ext cx="5156267" cy="580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36"/>
                </a:lnSpc>
                <a:spcBef>
                  <a:spcPct val="0"/>
                </a:spcBef>
              </a:pPr>
              <a:r>
                <a:rPr lang="en-US" sz="3136" b="1">
                  <a:solidFill>
                    <a:srgbClr val="25327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PYTEST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37251"/>
              <a:ext cx="5156267" cy="3650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9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332881" y="4893433"/>
            <a:ext cx="3867200" cy="42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6"/>
              </a:lnSpc>
              <a:spcBef>
                <a:spcPct val="0"/>
              </a:spcBef>
            </a:pPr>
            <a:r>
              <a:rPr lang="en-US" sz="3136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PLAYWRIGHT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22942" y="7689618"/>
            <a:ext cx="3867200" cy="42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6"/>
              </a:lnSpc>
              <a:spcBef>
                <a:spcPct val="0"/>
              </a:spcBef>
            </a:pPr>
            <a:r>
              <a:rPr lang="en-US" sz="3136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POSTMAN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54463" y="4893433"/>
            <a:ext cx="3867200" cy="42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6"/>
              </a:lnSpc>
              <a:spcBef>
                <a:spcPct val="0"/>
              </a:spcBef>
            </a:pPr>
            <a:r>
              <a:rPr lang="en-US" sz="3136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SELENIUM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26565" y="7490477"/>
            <a:ext cx="3867200" cy="81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6"/>
              </a:lnSpc>
              <a:spcBef>
                <a:spcPct val="0"/>
              </a:spcBef>
            </a:pPr>
            <a:r>
              <a:rPr lang="en-US" sz="3136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ROBOT FRAMEWORK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2693" y="4312920"/>
            <a:ext cx="12522614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CHALLENGES</a:t>
            </a: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0594" y="3154224"/>
            <a:ext cx="4143874" cy="3672146"/>
          </a:xfrm>
          <a:custGeom>
            <a:avLst/>
            <a:gdLst/>
            <a:ahLst/>
            <a:cxnLst/>
            <a:rect l="l" t="t" r="r" b="b"/>
            <a:pathLst>
              <a:path w="4143874" h="3672146">
                <a:moveTo>
                  <a:pt x="0" y="0"/>
                </a:moveTo>
                <a:lnTo>
                  <a:pt x="4143874" y="0"/>
                </a:lnTo>
                <a:lnTo>
                  <a:pt x="4143874" y="3672146"/>
                </a:lnTo>
                <a:lnTo>
                  <a:pt x="0" y="3672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698075" y="3154224"/>
            <a:ext cx="3189225" cy="3303340"/>
          </a:xfrm>
          <a:custGeom>
            <a:avLst/>
            <a:gdLst/>
            <a:ahLst/>
            <a:cxnLst/>
            <a:rect l="l" t="t" r="r" b="b"/>
            <a:pathLst>
              <a:path w="3189225" h="3303340">
                <a:moveTo>
                  <a:pt x="0" y="0"/>
                </a:moveTo>
                <a:lnTo>
                  <a:pt x="3189225" y="0"/>
                </a:lnTo>
                <a:lnTo>
                  <a:pt x="3189225" y="3303340"/>
                </a:lnTo>
                <a:lnTo>
                  <a:pt x="0" y="3303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80739" y="3500446"/>
            <a:ext cx="1895298" cy="1895298"/>
          </a:xfrm>
          <a:custGeom>
            <a:avLst/>
            <a:gdLst/>
            <a:ahLst/>
            <a:cxnLst/>
            <a:rect l="l" t="t" r="r" b="b"/>
            <a:pathLst>
              <a:path w="1895298" h="1895298">
                <a:moveTo>
                  <a:pt x="0" y="0"/>
                </a:moveTo>
                <a:lnTo>
                  <a:pt x="1895299" y="0"/>
                </a:lnTo>
                <a:lnTo>
                  <a:pt x="1895299" y="1895298"/>
                </a:lnTo>
                <a:lnTo>
                  <a:pt x="0" y="1895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95705" y="3312211"/>
            <a:ext cx="3884281" cy="2987365"/>
          </a:xfrm>
          <a:custGeom>
            <a:avLst/>
            <a:gdLst/>
            <a:ahLst/>
            <a:cxnLst/>
            <a:rect l="l" t="t" r="r" b="b"/>
            <a:pathLst>
              <a:path w="3884281" h="2987365">
                <a:moveTo>
                  <a:pt x="0" y="0"/>
                </a:moveTo>
                <a:lnTo>
                  <a:pt x="3884280" y="0"/>
                </a:lnTo>
                <a:lnTo>
                  <a:pt x="3884280" y="2987365"/>
                </a:lnTo>
                <a:lnTo>
                  <a:pt x="0" y="298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783172"/>
            <a:ext cx="16230600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9999" b="1">
                <a:solidFill>
                  <a:srgbClr val="25327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CHALLENGES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54154" y="7700794"/>
            <a:ext cx="456738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IMPLEMENTING ROBUST API INTEGRATION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607" y="7891294"/>
            <a:ext cx="60808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SYNCHRONIZING TEAM EFFORTS REMOTELY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68873" y="7700794"/>
            <a:ext cx="456738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ENSURING TEST COVERAGE ACROSS ALL MODULES</a:t>
            </a:r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179" y="3050940"/>
            <a:ext cx="4705640" cy="470564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981759" y="3443077"/>
            <a:ext cx="4643392" cy="4114800"/>
          </a:xfrm>
          <a:custGeom>
            <a:avLst/>
            <a:gdLst/>
            <a:ahLst/>
            <a:cxnLst/>
            <a:rect l="l" t="t" r="r" b="b"/>
            <a:pathLst>
              <a:path w="4643392" h="4114800">
                <a:moveTo>
                  <a:pt x="0" y="0"/>
                </a:moveTo>
                <a:lnTo>
                  <a:pt x="4643392" y="0"/>
                </a:lnTo>
                <a:lnTo>
                  <a:pt x="4643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816843" y="3769616"/>
            <a:ext cx="2973225" cy="2146128"/>
          </a:xfrm>
          <a:custGeom>
            <a:avLst/>
            <a:gdLst/>
            <a:ahLst/>
            <a:cxnLst/>
            <a:rect l="l" t="t" r="r" b="b"/>
            <a:pathLst>
              <a:path w="2973225" h="2146128">
                <a:moveTo>
                  <a:pt x="0" y="0"/>
                </a:moveTo>
                <a:lnTo>
                  <a:pt x="2973224" y="0"/>
                </a:lnTo>
                <a:lnTo>
                  <a:pt x="2973224" y="2146128"/>
                </a:lnTo>
                <a:lnTo>
                  <a:pt x="0" y="2146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884714" y="3499363"/>
            <a:ext cx="3174679" cy="3288274"/>
          </a:xfrm>
          <a:custGeom>
            <a:avLst/>
            <a:gdLst/>
            <a:ahLst/>
            <a:cxnLst/>
            <a:rect l="l" t="t" r="r" b="b"/>
            <a:pathLst>
              <a:path w="3174679" h="3288274">
                <a:moveTo>
                  <a:pt x="0" y="0"/>
                </a:moveTo>
                <a:lnTo>
                  <a:pt x="3174679" y="0"/>
                </a:lnTo>
                <a:lnTo>
                  <a:pt x="3174679" y="3288274"/>
                </a:lnTo>
                <a:lnTo>
                  <a:pt x="0" y="32882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783172"/>
            <a:ext cx="16230600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9999" b="1">
                <a:solidFill>
                  <a:srgbClr val="25327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ACHIEVEMENTS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1655" y="8330523"/>
            <a:ext cx="456738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75% TEST COVERAGE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032" y="8140022"/>
            <a:ext cx="60808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LOGIN AND MANAGEMENT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69688" y="7481640"/>
            <a:ext cx="456738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DETAILED DOCUMENATION AND EDUCATIONAL LABS</a:t>
            </a:r>
          </a:p>
        </p:txBody>
      </p:sp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3798" y="3776886"/>
            <a:ext cx="13960405" cy="375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FEEE"/>
                </a:solidFill>
                <a:latin typeface="Inter Bold"/>
                <a:ea typeface="Inter Bold"/>
                <a:cs typeface="Inter Bold"/>
                <a:sym typeface="Inter Bold"/>
              </a:rPr>
              <a:t>EDUCATIONAL LABS</a:t>
            </a:r>
          </a:p>
        </p:txBody>
      </p:sp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2277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13" b="-54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88528" y="4251163"/>
            <a:ext cx="822254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We’ve created five designated educational labs for students to be able to learn our testing strategies themselves.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8528" y="1200150"/>
            <a:ext cx="9029725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EDUCATIONAL LABS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82530" y="403013"/>
            <a:ext cx="753726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9"/>
              </a:lnSpc>
              <a:spcBef>
                <a:spcPct val="0"/>
              </a:spcBef>
            </a:pPr>
            <a:r>
              <a:rPr lang="en-US" sz="12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528" y="7405266"/>
            <a:ext cx="822254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Our labs were designed to replicate real-world applications of testing within our Library Management System Application.</a:t>
            </a:r>
          </a:p>
        </p:txBody>
      </p:sp>
      <p:sp>
        <p:nvSpPr>
          <p:cNvPr id="7" name="Freeform 7"/>
          <p:cNvSpPr/>
          <p:nvPr/>
        </p:nvSpPr>
        <p:spPr>
          <a:xfrm>
            <a:off x="10692277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02" b="-42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692277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467" b="-215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437" y="3398520"/>
            <a:ext cx="17189127" cy="375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LIVE DEMONSTRATION</a:t>
            </a:r>
          </a:p>
        </p:txBody>
      </p:sp>
    </p:spTree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9216"/>
            <a:ext cx="16230600" cy="4749218"/>
            <a:chOff x="0" y="0"/>
            <a:chExt cx="4274726" cy="1250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250823"/>
            </a:xfrm>
            <a:custGeom>
              <a:avLst/>
              <a:gdLst/>
              <a:ahLst/>
              <a:cxnLst/>
              <a:rect l="l" t="t" r="r" b="b"/>
              <a:pathLst>
                <a:path w="4274726" h="1250823">
                  <a:moveTo>
                    <a:pt x="0" y="0"/>
                  </a:moveTo>
                  <a:lnTo>
                    <a:pt x="4274726" y="0"/>
                  </a:lnTo>
                  <a:lnTo>
                    <a:pt x="4274726" y="1250823"/>
                  </a:lnTo>
                  <a:lnTo>
                    <a:pt x="0" y="1250823"/>
                  </a:lnTo>
                  <a:close/>
                </a:path>
              </a:pathLst>
            </a:custGeom>
            <a:solidFill>
              <a:srgbClr val="2532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274726" cy="1250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372056" y="2064942"/>
            <a:ext cx="0" cy="3737766"/>
          </a:xfrm>
          <a:prstGeom prst="line">
            <a:avLst/>
          </a:prstGeom>
          <a:ln w="38100" cap="flat">
            <a:solidFill>
              <a:srgbClr val="F8EF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914561" y="2064942"/>
            <a:ext cx="0" cy="3737766"/>
          </a:xfrm>
          <a:prstGeom prst="line">
            <a:avLst/>
          </a:prstGeom>
          <a:ln w="38100" cap="flat">
            <a:solidFill>
              <a:srgbClr val="F8EF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966970" y="7527634"/>
            <a:ext cx="1435406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FUTURE IMPROVEMENTS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517" y="3528658"/>
            <a:ext cx="4189264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600" b="1">
                <a:solidFill>
                  <a:srgbClr val="FFD864"/>
                </a:solidFill>
                <a:latin typeface="Inter Bold"/>
                <a:ea typeface="Inter Bold"/>
                <a:cs typeface="Inter Bold"/>
                <a:sym typeface="Inter Bold"/>
              </a:rPr>
              <a:t>EXPANDED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9022" y="3488055"/>
            <a:ext cx="4189264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b="1">
                <a:solidFill>
                  <a:srgbClr val="FFD86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MOBILE-FRIENDLY UI REDESIGN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70129" y="3529078"/>
            <a:ext cx="4189264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b="1">
                <a:solidFill>
                  <a:srgbClr val="FFD86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OPTIMIZED PERFORMANCE</a:t>
            </a:r>
          </a:p>
        </p:txBody>
      </p:sp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13" b="-54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406531" y="3476849"/>
            <a:ext cx="9029725" cy="225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The library management System project demonstrated our ability to solve complex problems, collaborate effectedly as a team, and use advanced tools.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88195" y="1413563"/>
            <a:ext cx="8071198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000"/>
              </a:lnSpc>
              <a:spcBef>
                <a:spcPct val="0"/>
              </a:spcBef>
            </a:pPr>
            <a:r>
              <a:rPr lang="en-US" sz="9000" b="1">
                <a:solidFill>
                  <a:srgbClr val="25327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575" y="6597411"/>
            <a:ext cx="9029725" cy="225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3000" b="1">
                <a:solidFill>
                  <a:srgbClr val="253278"/>
                </a:solidFill>
                <a:latin typeface="Inter Bold"/>
                <a:ea typeface="Inter Bold"/>
                <a:cs typeface="Inter Bold"/>
                <a:sym typeface="Inter Bold"/>
              </a:rPr>
              <a:t>This project has prepared us for real-world software development scenarios and emphasized the importance of teamwork, planning and execution.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7595723" cy="10287000"/>
          </a:xfrm>
          <a:custGeom>
            <a:avLst/>
            <a:gdLst/>
            <a:ahLst/>
            <a:cxnLst/>
            <a:rect l="l" t="t" r="r" b="b"/>
            <a:pathLst>
              <a:path w="7595723" h="10287000">
                <a:moveTo>
                  <a:pt x="0" y="0"/>
                </a:moveTo>
                <a:lnTo>
                  <a:pt x="7595723" y="0"/>
                </a:lnTo>
                <a:lnTo>
                  <a:pt x="75957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057" r="-6570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12920"/>
            <a:ext cx="16230600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QUESTIONS?</a:t>
            </a:r>
          </a:p>
        </p:txBody>
      </p:sp>
    </p:spTree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12920"/>
            <a:ext cx="16230600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0"/>
              </a:lnSpc>
              <a:spcBef>
                <a:spcPct val="0"/>
              </a:spcBef>
            </a:pPr>
            <a:r>
              <a:rPr lang="en-US" sz="14400" b="1">
                <a:solidFill>
                  <a:srgbClr val="FFD86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THANK YOU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Custom</PresentationFormat>
  <Paragraphs>91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LBMS</dc:title>
  <cp:lastModifiedBy>Nya James</cp:lastModifiedBy>
  <cp:revision>3</cp:revision>
  <dcterms:created xsi:type="dcterms:W3CDTF">2006-08-16T00:00:00Z</dcterms:created>
  <dcterms:modified xsi:type="dcterms:W3CDTF">2024-12-07T03:26:34Z</dcterms:modified>
  <dc:identifier>DAGYTnhgB90</dc:identifier>
</cp:coreProperties>
</file>